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elasio" panose="020B0604020202020204" charset="0"/>
      <p:regular r:id="rId17"/>
    </p:embeddedFont>
    <p:embeddedFont>
      <p:font typeface="Gelasio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1088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94052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Healthcare Data Analysis — Executive Summary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05287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Analysis of transactional healthcare records (20K admissions) to surface actionable insights on patient flow, treatment costs, department utilization, and revenue performance across a multi-hospital network. Workflows combined Python (Pandas) for data preparation, MySQL for analytical queries, and Power BI for executive dashboards.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11349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Dataset Snapshot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5233360" y="1867297"/>
            <a:ext cx="3053877" cy="2298799"/>
          </a:xfrm>
          <a:prstGeom prst="roundRect">
            <a:avLst>
              <a:gd name="adj" fmla="val 123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22367" y="2056309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Scale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2367" y="2464991"/>
            <a:ext cx="2675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20,000 rows across Admissions, Billing, Patients; ~30 columns spanning demographics, clinical and financial records.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1867297"/>
            <a:ext cx="3053976" cy="2298799"/>
          </a:xfrm>
          <a:prstGeom prst="roundRect">
            <a:avLst>
              <a:gd name="adj" fmla="val 123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65251" y="2056309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65251" y="2464991"/>
            <a:ext cx="267596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Age, Gender, Blood Type, Diagnosis, Department, Length of Stay, Doctor, Total Cost, Insurance Coverage, Payment Status.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355108"/>
            <a:ext cx="6296860" cy="1391543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422367" y="4544120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 Quality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2367" y="4952802"/>
            <a:ext cx="59188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Missing continuous values imputed with medians; categorical gaps filled via random sampling. Derived fields: age_group, stay_category.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86036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Python EDA &amp; Preparation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1741984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 read Excel sheets into Pandas, validated shapes and previewed records. Example: patients (20,000×6), admissions (20,000×8), billing (20,000×9), doctors (350×5), hospitals (10×4). Feature engineering included age groups and full_name; cleaned tables exported to CSV then loaded into MySQL.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466703"/>
            <a:ext cx="6296860" cy="1890117"/>
          </a:xfrm>
          <a:prstGeom prst="roundRect">
            <a:avLst>
              <a:gd name="adj" fmla="val 1500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52049" y="3466703"/>
            <a:ext cx="6315711" cy="1890117"/>
          </a:xfrm>
          <a:prstGeom prst="roundRect">
            <a:avLst>
              <a:gd name="adj" fmla="val 1500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88283" y="3655715"/>
            <a:ext cx="584324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[51]: p_df.shape -&gt; (20000, 6)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[53]: a_df.shape -&gt; (20000, 8)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[55]: b_df.shape -&gt; (20000, 9)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[56]: d_df.shape -&gt; (350, 5)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[57]: h_df.shape -&gt; (10, 4)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1475" y="556944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54510"/>
            <a:ext cx="5203794" cy="294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727994"/>
            <a:ext cx="5203794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From Cleaned Data to Relational Store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332776" y="2861965"/>
            <a:ext cx="5203794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Clean CSVs were ingested into MySQL via SQLAlchemy. Tables created: patients, admissions, doctors, billing, hospitals. This enabled performant joins and window-function analytics for revenue, ranking, and time-series queries.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Connection snippet used secure engine pattern (SQLAlchemy) and if_exists="replace" to ensure alignment between cleaned DataFrames and DB tables.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14263" y="468181"/>
            <a:ext cx="4382879" cy="58438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309886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Regional Revenue — Key Finding</a:t>
            </a:r>
            <a:endParaRPr lang="en-US" sz="2950" dirty="0"/>
          </a:p>
        </p:txBody>
      </p:sp>
      <p:sp>
        <p:nvSpPr>
          <p:cNvPr id="5" name="Text 1"/>
          <p:cNvSpPr/>
          <p:nvPr/>
        </p:nvSpPr>
        <p:spPr>
          <a:xfrm>
            <a:off x="661475" y="2065834"/>
            <a:ext cx="6296860" cy="9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 gross revenue is concentrated in the South and North. SQL aggregation (billing </a:t>
            </a: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↔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admissions </a:t>
            </a: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↔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hospitals) produced regional totals used for strategic capacity planning and service expansion prioritization.</a:t>
            </a:r>
            <a:endParaRPr lang="en-US" sz="1450" dirty="0"/>
          </a:p>
        </p:txBody>
      </p:sp>
      <p:sp>
        <p:nvSpPr>
          <p:cNvPr id="6" name="Shape 2"/>
          <p:cNvSpPr/>
          <p:nvPr/>
        </p:nvSpPr>
        <p:spPr>
          <a:xfrm>
            <a:off x="661475" y="3198416"/>
            <a:ext cx="3053877" cy="2349599"/>
          </a:xfrm>
          <a:prstGeom prst="roundRect">
            <a:avLst>
              <a:gd name="adj" fmla="val 1207"/>
            </a:avLst>
          </a:prstGeom>
          <a:solidFill>
            <a:srgbClr val="F9F6F0"/>
          </a:solidFill>
          <a:ln w="25399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875881" y="3412827"/>
            <a:ext cx="26250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Top regions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75881" y="3821509"/>
            <a:ext cx="26250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South: ₹891.8M • North: ₹468.8M • West: ₹443.8M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904358" y="3198416"/>
            <a:ext cx="3053977" cy="2349599"/>
          </a:xfrm>
          <a:prstGeom prst="roundRect">
            <a:avLst>
              <a:gd name="adj" fmla="val 1207"/>
            </a:avLst>
          </a:prstGeom>
          <a:solidFill>
            <a:srgbClr val="F9F6F0"/>
          </a:solidFill>
          <a:ln w="25399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118765" y="3412827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Action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118765" y="3821509"/>
            <a:ext cx="26251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Consider expanding specialized services and targeted marketing in South region hospitals to capture additional high-margin referrals.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858" y="564555"/>
            <a:ext cx="9395979" cy="49768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98775" y="4121471"/>
            <a:ext cx="2323142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Aggregate Revenue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2533573" y="4494473"/>
            <a:ext cx="2488343" cy="453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Sum monthly cleared revenue per account.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624967" y="867700"/>
            <a:ext cx="2488343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Compute MoM Change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24967" y="1531103"/>
            <a:ext cx="2488343" cy="453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 a lagged window to get percent change.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200507" y="1158100"/>
            <a:ext cx="2323142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Identify Trends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200507" y="1531103"/>
            <a:ext cx="2488343" cy="453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Mark sustained positive or negative patterns.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78139" y="4121632"/>
            <a:ext cx="2323142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Flag for Review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78139" y="4494635"/>
            <a:ext cx="2488343" cy="453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Tag months needing operational review.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1475" y="5733256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month-over-month cleared revenue analysis used a windowed lag to compute percent change. Results highlight volatility across months (notable +27% in Mar 2022, multi-month declines), supporting cash-flow and staffing cadence decisions.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69529"/>
            <a:ext cx="4637269" cy="26278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6251" y="1772245"/>
            <a:ext cx="577022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Identifying 'Star Doctors' by Region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766251" y="2906216"/>
            <a:ext cx="57702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Using window functions and region partitioning, we ranked doctors by total revenue. The top performers can inform referral programs, clinician-led service lines, and compensation modeling.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522589"/>
            <a:ext cx="378014" cy="3780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5723" y="4587478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Central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275723" y="4996160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AIIMS Regional — Dr. Aarti — ₹9.75M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3135" y="4522589"/>
            <a:ext cx="378014" cy="3780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77383" y="4587478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North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4977383" y="4996160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Apex Health — Dr. Amit — ₹10.42M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4522589"/>
            <a:ext cx="378014" cy="3780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79042" y="4587478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West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8679042" y="4996160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Sunrise Medical — Dr. Manish — ₹10.17M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Power BI Dashboards — Executive &amp; Clinical Views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70310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Interactive dashboards present executive KPIs: total admissions (20K), avg revenue per patient (₹129.98K), avg length of stay (13.06 days), 350 active doctors. Visuals include admissions by month/weekday, admission days by department, revenue by region, and readmission metrics for operational monitoring.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9" y="2655589"/>
            <a:ext cx="5836238" cy="33439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865" y="2655588"/>
            <a:ext cx="5904166" cy="33439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64134"/>
            <a:ext cx="5203794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Billing Operations — Risks &amp; Metrics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3098105"/>
            <a:ext cx="52037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financial metrics: Total Gross Revenue ₹2.60B, Cleared Revenue ₹1.15B, Outstanding Debt ₹695.26M. Insurance coverage ratio ~51.1% and payment clearance rate ~44.2%. Unpaid debt clusters by department (Pediatrics, Orthopedics, Oncology) indicate targeted revenue-cycle interventions are needed.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826988"/>
            <a:ext cx="5203794" cy="52039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638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Strategic Recommendations &amp; Next Steps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766888"/>
            <a:ext cx="3496877" cy="2594074"/>
          </a:xfrm>
          <a:prstGeom prst="roundRect">
            <a:avLst>
              <a:gd name="adj" fmla="val 109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482" y="195589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1. Resource Allocation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2364581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Prioritize beds and staffing for Pediatrics and Orthopedics where admissions are highest; align on peak-month staffing and weekend coverage.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1766888"/>
            <a:ext cx="3496877" cy="2594074"/>
          </a:xfrm>
          <a:prstGeom prst="roundRect">
            <a:avLst>
              <a:gd name="adj" fmla="val 109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36366" y="1955899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2. Revenue Cycle Improvements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2659856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Strengthen upfront insurance verification, automate claim scrubbing, and implement prioritized follow-up for departments with highest outstanding debt.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1766888"/>
            <a:ext cx="3496877" cy="2594074"/>
          </a:xfrm>
          <a:prstGeom prst="roundRect">
            <a:avLst>
              <a:gd name="adj" fmla="val 109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2251" y="195589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3. Regional Strategy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2364581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Scale specialized services in South region hospitals; evaluate capacity expansion at high-performing centers like Max Wellness and Sunrise Medical City.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549973"/>
            <a:ext cx="10868646" cy="1391543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50482" y="4738985"/>
            <a:ext cx="104906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4. Supply &amp; Blood Bank Alignment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0482" y="5147667"/>
            <a:ext cx="1049063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Adjust blood procurement to match dominant blood types (AB+ and O-). Tighten inventory turnover and cold-chain monitoring to reduce waste.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794</Words>
  <Application>Microsoft Office PowerPoint</Application>
  <PresentationFormat>Widescreen</PresentationFormat>
  <Paragraphs>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Gelasio</vt:lpstr>
      <vt:lpstr>Arial</vt:lpstr>
      <vt:lpstr>Consolas</vt:lpstr>
      <vt:lpstr>Gelasio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mayanksingh92053@gmail.com</cp:lastModifiedBy>
  <cp:revision>2</cp:revision>
  <dcterms:created xsi:type="dcterms:W3CDTF">2026-07-24T09:25:08Z</dcterms:created>
  <dcterms:modified xsi:type="dcterms:W3CDTF">2026-07-25T08:05:56Z</dcterms:modified>
</cp:coreProperties>
</file>